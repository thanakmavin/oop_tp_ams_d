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23960" y="685800"/>
            <a:ext cx="109728" cy="5303520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08008" y="886968"/>
            <a:ext cx="109728" cy="4901183"/>
          </a:xfrm>
          <a:prstGeom prst="rect">
            <a:avLst/>
          </a:prstGeom>
          <a:solidFill>
            <a:srgbClr val="FFC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92056" y="1088136"/>
            <a:ext cx="109728" cy="4498848"/>
          </a:xfrm>
          <a:prstGeom prst="rect">
            <a:avLst/>
          </a:prstGeom>
          <a:solidFill>
            <a:srgbClr val="A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09CFF"/>
                </a:solidFill>
                <a:latin typeface="Aptos"/>
              </a:rPr>
              <a:t>GROUP 7  • 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768096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F5F8FC"/>
                </a:solidFill>
                <a:latin typeface="Aptos"/>
              </a:rPr>
              <a:t>DECISION-MAKING
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82112"/>
            <a:ext cx="69494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B0BED0"/>
                </a:solidFill>
                <a:latin typeface="Aptos"/>
              </a:rPr>
              <a:t>How Python programs choose what to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1143000" cy="384048"/>
          </a:xfrm>
          <a:prstGeom prst="round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206240"/>
            <a:ext cx="10698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09CFF"/>
                </a:solidFill>
                <a:latin typeface="Aptos"/>
              </a:rPr>
              <a:t>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160520"/>
            <a:ext cx="1508760" cy="384048"/>
          </a:xfrm>
          <a:prstGeom prst="round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9696" y="4206240"/>
            <a:ext cx="1435607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CC4A"/>
                </a:solidFill>
                <a:latin typeface="Aptos"/>
              </a:rPr>
              <a:t>if-else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4160520"/>
            <a:ext cx="2286000" cy="384048"/>
          </a:xfrm>
          <a:prstGeom prst="round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4206240"/>
            <a:ext cx="22128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AE82FF"/>
                </a:solidFill>
                <a:latin typeface="Aptos"/>
              </a:rPr>
              <a:t>if-elif-else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6217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0BED0"/>
                </a:solidFill>
                <a:latin typeface="Aptos"/>
              </a:rPr>
              <a:t>Presented by: Group members  |  Subject: 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371600"/>
            <a:ext cx="777240" cy="658368"/>
          </a:xfrm>
          <a:prstGeom prst="round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527048"/>
            <a:ext cx="777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B2C"/>
                </a:solidFill>
                <a:latin typeface="Aptos"/>
              </a:rPr>
              <a:t>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9880" y="2011680"/>
            <a:ext cx="777240" cy="658368"/>
          </a:xfrm>
          <a:prstGeom prst="roundRect">
            <a:avLst/>
          </a:prstGeom>
          <a:solidFill>
            <a:srgbClr val="FFC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80" y="2167128"/>
            <a:ext cx="777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B2C"/>
                </a:solidFill>
                <a:latin typeface="Aptos"/>
              </a:rPr>
              <a:t>IF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2743200"/>
            <a:ext cx="777240" cy="658368"/>
          </a:xfrm>
          <a:prstGeom prst="roundRect">
            <a:avLst/>
          </a:prstGeom>
          <a:solidFill>
            <a:srgbClr val="A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2898648"/>
            <a:ext cx="777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B2C"/>
                </a:solidFill>
                <a:latin typeface="Aptos"/>
              </a:rPr>
              <a:t>{}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3383280"/>
            <a:ext cx="777240" cy="658368"/>
          </a:xfrm>
          <a:prstGeom prst="roundRect">
            <a:avLst/>
          </a:prstGeom>
          <a:solidFill>
            <a:srgbClr val="55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3538728"/>
            <a:ext cx="777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1B2C"/>
                </a:solidFill>
                <a:latin typeface="Aptos"/>
              </a:rPr>
              <a:t>&gt;_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9CFF"/>
                </a:solidFill>
                <a:latin typeface="Aptos"/>
              </a:rPr>
              <a:t>GROUP 7  / 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0BED0"/>
                </a:solidFill>
                <a:latin typeface="Aptos"/>
              </a:rPr>
              <a:t>02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F8FC"/>
                </a:solidFill>
                <a:latin typeface="Aptos"/>
              </a:rPr>
              <a:t>What are decision-making statements?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10972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0BED0"/>
                </a:solidFill>
                <a:latin typeface="Aptos"/>
              </a:rPr>
              <a:t>They let a program choose an action based on whether a condition is true or false.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10512"/>
            <a:ext cx="658368" cy="50292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3931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5F8FC"/>
                </a:solidFill>
                <a:latin typeface="Aptos"/>
              </a:rPr>
              <a:t>A program checks a condition:</a:t>
            </a:r>
          </a:p>
        </p:txBody>
      </p:sp>
      <p:sp>
        <p:nvSpPr>
          <p:cNvPr id="8" name="Diamond 7"/>
          <p:cNvSpPr/>
          <p:nvPr/>
        </p:nvSpPr>
        <p:spPr>
          <a:xfrm>
            <a:off x="1325880" y="2834640"/>
            <a:ext cx="2011680" cy="1325880"/>
          </a:xfrm>
          <a:prstGeom prst="diamond">
            <a:avLst/>
          </a:prstGeom>
          <a:solidFill>
            <a:srgbClr val="22354D"/>
          </a:solidFill>
          <a:ln>
            <a:solidFill>
              <a:srgbClr val="40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3255264"/>
            <a:ext cx="1417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Condition?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337560" y="2880360"/>
            <a:ext cx="1325880" cy="612648"/>
          </a:xfrm>
          <a:prstGeom prst="line">
            <a:avLst/>
          </a:prstGeom>
          <a:ln w="25400">
            <a:solidFill>
              <a:srgbClr val="55D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337560" y="3493008"/>
            <a:ext cx="1325880" cy="758952"/>
          </a:xfrm>
          <a:prstGeom prst="line">
            <a:avLst/>
          </a:prstGeom>
          <a:ln w="25400">
            <a:solidFill>
              <a:srgbClr val="FF6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4760" y="2487168"/>
            <a:ext cx="822960" cy="384048"/>
          </a:xfrm>
          <a:prstGeom prst="round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1336" y="2532888"/>
            <a:ext cx="7498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5D29B"/>
                </a:solidFill>
                <a:latin typeface="Aptos"/>
              </a:rPr>
              <a:t>TRUE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4315968"/>
            <a:ext cx="822960" cy="384048"/>
          </a:xfrm>
          <a:prstGeom prst="round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336" y="4361688"/>
            <a:ext cx="74980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6870"/>
                </a:solidFill>
                <a:latin typeface="Aptos"/>
              </a:rPr>
              <a:t>FALSE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423160"/>
            <a:ext cx="2743200" cy="822960"/>
          </a:xfrm>
          <a:prstGeom prst="roundRect">
            <a:avLst/>
          </a:prstGeom>
          <a:solidFill>
            <a:srgbClr val="1B2B40"/>
          </a:solidFill>
          <a:ln>
            <a:solidFill>
              <a:srgbClr val="55D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253288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5D29B"/>
                </a:solidFill>
                <a:latin typeface="Aptos"/>
              </a:rPr>
              <a:t>Run this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834640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BED0"/>
                </a:solidFill>
                <a:latin typeface="Aptos"/>
              </a:rPr>
              <a:t>The condition is met.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840480"/>
            <a:ext cx="2743200" cy="822960"/>
          </a:xfrm>
          <a:prstGeom prst="roundRect">
            <a:avLst/>
          </a:prstGeom>
          <a:solidFill>
            <a:srgbClr val="1B2B40"/>
          </a:solidFill>
          <a:ln>
            <a:solidFill>
              <a:srgbClr val="FF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3950208"/>
            <a:ext cx="2423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6870"/>
                </a:solidFill>
                <a:latin typeface="Aptos"/>
              </a:rPr>
              <a:t>Choose another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4251960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0BED0"/>
                </a:solidFill>
                <a:latin typeface="Aptos"/>
              </a:rPr>
              <a:t>The condition is not met.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23160"/>
            <a:ext cx="3108960" cy="2011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C4A"/>
                </a:solidFill>
                <a:latin typeface="Aptos"/>
              </a:rPr>
              <a:t>Everyday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34640"/>
            <a:ext cx="3383280" cy="2011680"/>
          </a:xfrm>
          <a:prstGeom prst="rect">
            <a:avLst/>
          </a:prstGeom>
          <a:noFill/>
        </p:spPr>
        <p:txBody>
          <a:bodyPr wrap="none" lIns="109728" rIns="109728" tIns="91440" bIns="9144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• If it rains, take an umbrella.</a:t>
            </a:r>
          </a:p>
          <a:p>
            <a:pPr>
              <a:spcAft>
                <a:spcPts val="8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• If the score is high, pass.</a:t>
            </a:r>
          </a:p>
          <a:p>
            <a:pPr>
              <a:spcAft>
                <a:spcPts val="8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• Otherwise, show another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9CFF"/>
                </a:solidFill>
                <a:latin typeface="Aptos"/>
              </a:rPr>
              <a:t>GROUP 7  / 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0BED0"/>
                </a:solidFill>
                <a:latin typeface="Aptos"/>
              </a:rPr>
              <a:t>03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F8FC"/>
                </a:solidFill>
                <a:latin typeface="Aptos"/>
              </a:rPr>
              <a:t>1. The if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10972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0BED0"/>
                </a:solidFill>
                <a:latin typeface="Aptos"/>
              </a:rPr>
              <a:t>Use if when an action should happen only if a condition is true.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10512"/>
            <a:ext cx="658368" cy="50292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577840" cy="3566160"/>
          </a:xfrm>
          <a:prstGeom prst="roundRect">
            <a:avLst/>
          </a:prstGeom>
          <a:solidFill>
            <a:srgbClr val="1B2B40"/>
          </a:solidFill>
          <a:ln>
            <a:solidFill>
              <a:srgbClr val="22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276856"/>
            <a:ext cx="517550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9CFF"/>
                </a:solidFill>
                <a:latin typeface="Aptos"/>
              </a:rPr>
              <a:t>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2633472"/>
            <a:ext cx="5175503" cy="16459"/>
          </a:xfrm>
          <a:prstGeom prst="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52344"/>
            <a:ext cx="5175503" cy="2651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F5F8FC"/>
                </a:solidFill>
                <a:latin typeface="Consolas"/>
              </a:defRPr>
            </a:pPr>
            <a:r>
              <a:t>score = 80</a:t>
            </a:r>
          </a:p>
          <a:p>
            <a:pPr>
              <a:spcAft>
                <a:spcPts val="300"/>
              </a:spcAft>
              <a:defRPr sz="1800">
                <a:solidFill>
                  <a:srgbClr val="F5F8FC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800">
                <a:solidFill>
                  <a:srgbClr val="F5F8FC"/>
                </a:solidFill>
                <a:latin typeface="Consolas"/>
              </a:defRPr>
            </a:pPr>
            <a:r>
              <a:t>if score &gt;= 50:</a:t>
            </a:r>
          </a:p>
          <a:p>
            <a:pPr>
              <a:spcAft>
                <a:spcPts val="300"/>
              </a:spcAft>
              <a:defRPr sz="1800">
                <a:solidFill>
                  <a:srgbClr val="F5F8FC"/>
                </a:solidFill>
                <a:latin typeface="Consolas"/>
              </a:defRPr>
            </a:pPr>
            <a:r>
              <a:t>    print("Pass")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184648"/>
            <a:ext cx="5175503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5D29B"/>
                </a:solidFill>
                <a:latin typeface="Aptos"/>
              </a:rPr>
              <a:t>OUTPUT  › 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86000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CC4A"/>
                </a:solidFill>
                <a:latin typeface="Aptos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743200"/>
            <a:ext cx="4480560" cy="2194560"/>
          </a:xfrm>
          <a:prstGeom prst="rect">
            <a:avLst/>
          </a:prstGeom>
          <a:noFill/>
        </p:spPr>
        <p:txBody>
          <a:bodyPr wrap="none" lIns="109728" rIns="109728" tIns="91440" bIns="9144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1. The program stores score = 80.</a:t>
            </a:r>
          </a:p>
          <a:p>
            <a:pPr>
              <a:spcAft>
                <a:spcPts val="8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2. It checks whether score &gt;= 50.</a:t>
            </a:r>
          </a:p>
          <a:p>
            <a:pPr>
              <a:spcAft>
                <a:spcPts val="8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3. The condition is true, so it prints Pass.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5166360"/>
            <a:ext cx="1645920" cy="384048"/>
          </a:xfrm>
          <a:prstGeom prst="round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8856" y="5212080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5D29B"/>
                </a:solidFill>
                <a:latin typeface="Aptos"/>
              </a:rPr>
              <a:t>TRUE →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166360"/>
            <a:ext cx="1828800" cy="384048"/>
          </a:xfrm>
          <a:prstGeom prst="round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5212080"/>
            <a:ext cx="17556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6870"/>
                </a:solidFill>
                <a:latin typeface="Aptos"/>
              </a:rPr>
              <a:t>FALSE → SKIP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9CFF"/>
                </a:solidFill>
                <a:latin typeface="Aptos"/>
              </a:rPr>
              <a:t>GROUP 7  / 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0BED0"/>
                </a:solidFill>
                <a:latin typeface="Aptos"/>
              </a:rPr>
              <a:t>04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F8FC"/>
                </a:solidFill>
                <a:latin typeface="Aptos"/>
              </a:rPr>
              <a:t>2. The if-else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10972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0BED0"/>
                </a:solidFill>
                <a:latin typeface="Aptos"/>
              </a:rPr>
              <a:t>Use if-else when there are two possible outcomes.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10512"/>
            <a:ext cx="658368" cy="50292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577840" cy="3566160"/>
          </a:xfrm>
          <a:prstGeom prst="roundRect">
            <a:avLst/>
          </a:prstGeom>
          <a:solidFill>
            <a:srgbClr val="1B2B40"/>
          </a:solidFill>
          <a:ln>
            <a:solidFill>
              <a:srgbClr val="22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276856"/>
            <a:ext cx="517550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9CFF"/>
                </a:solidFill>
                <a:latin typeface="Aptos"/>
              </a:rPr>
              <a:t>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2633472"/>
            <a:ext cx="5175503" cy="16459"/>
          </a:xfrm>
          <a:prstGeom prst="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52344"/>
            <a:ext cx="5175503" cy="2651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5F8FC"/>
                </a:solidFill>
                <a:latin typeface="Consolas"/>
              </a:defRPr>
            </a:pPr>
            <a:r>
              <a:t>score = 40</a:t>
            </a:r>
          </a:p>
          <a:p>
            <a:pPr>
              <a:spcAft>
                <a:spcPts val="300"/>
              </a:spcAft>
              <a:defRPr sz="1600">
                <a:solidFill>
                  <a:srgbClr val="F5F8FC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F5F8FC"/>
                </a:solidFill>
                <a:latin typeface="Consolas"/>
              </a:defRPr>
            </a:pPr>
            <a:r>
              <a:t>if score &gt;= 50:</a:t>
            </a:r>
          </a:p>
          <a:p>
            <a:pPr>
              <a:spcAft>
                <a:spcPts val="300"/>
              </a:spcAft>
              <a:defRPr sz="1600">
                <a:solidFill>
                  <a:srgbClr val="F5F8FC"/>
                </a:solidFill>
                <a:latin typeface="Consolas"/>
              </a:defRPr>
            </a:pPr>
            <a:r>
              <a:t>    print("Pass")</a:t>
            </a:r>
          </a:p>
          <a:p>
            <a:pPr>
              <a:spcAft>
                <a:spcPts val="300"/>
              </a:spcAft>
              <a:defRPr sz="1600">
                <a:solidFill>
                  <a:srgbClr val="F5F8FC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300"/>
              </a:spcAft>
              <a:defRPr sz="1600">
                <a:solidFill>
                  <a:srgbClr val="F5F8FC"/>
                </a:solidFill>
                <a:latin typeface="Consolas"/>
              </a:defRPr>
            </a:pPr>
            <a:r>
              <a:t>    print("Fail")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184648"/>
            <a:ext cx="5175503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5D29B"/>
                </a:solidFill>
                <a:latin typeface="Aptos"/>
              </a:rPr>
              <a:t>OUTPUT  › 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86000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CC4A"/>
                </a:solidFill>
                <a:latin typeface="Aptos"/>
              </a:rPr>
              <a:t>Two possible paths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80360"/>
            <a:ext cx="2057400" cy="1143000"/>
          </a:xfrm>
          <a:prstGeom prst="roundRect">
            <a:avLst/>
          </a:prstGeom>
          <a:solidFill>
            <a:srgbClr val="1B2B40"/>
          </a:solidFill>
          <a:ln>
            <a:solidFill>
              <a:srgbClr val="55D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304495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5D29B"/>
                </a:solidFill>
                <a:latin typeface="Aptos"/>
              </a:rPr>
              <a:t>IF: score &gt;=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344728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Print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880360"/>
            <a:ext cx="2057400" cy="1143000"/>
          </a:xfrm>
          <a:prstGeom prst="roundRect">
            <a:avLst/>
          </a:prstGeom>
          <a:solidFill>
            <a:srgbClr val="1B2B40"/>
          </a:solidFill>
          <a:ln>
            <a:solidFill>
              <a:srgbClr val="FF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7" y="304495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6870"/>
                </a:solidFill>
                <a:latin typeface="Aptos"/>
              </a:rPr>
              <a:t>ELSE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7" y="344728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Print Fail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572000"/>
            <a:ext cx="41148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B0BED0"/>
                </a:solidFill>
                <a:latin typeface="Aptos"/>
              </a:rPr>
              <a:t>Exactly one branch runs:
Pass OR Fail.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9CFF"/>
                </a:solidFill>
                <a:latin typeface="Aptos"/>
              </a:rPr>
              <a:t>GROUP 7  / 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0BED0"/>
                </a:solidFill>
                <a:latin typeface="Aptos"/>
              </a:rPr>
              <a:t>05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F8FC"/>
                </a:solidFill>
                <a:latin typeface="Aptos"/>
              </a:rPr>
              <a:t>3. The if-elif-else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10972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0BED0"/>
                </a:solidFill>
                <a:latin typeface="Aptos"/>
              </a:rPr>
              <a:t>Use it to test several conditions in order. The first true branch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10512"/>
            <a:ext cx="658368" cy="50292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6537960" cy="4069080"/>
          </a:xfrm>
          <a:prstGeom prst="roundRect">
            <a:avLst/>
          </a:prstGeom>
          <a:solidFill>
            <a:srgbClr val="1B2B40"/>
          </a:solidFill>
          <a:ln>
            <a:solidFill>
              <a:srgbClr val="22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85416"/>
            <a:ext cx="61356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9CFF"/>
                </a:solidFill>
                <a:latin typeface="Aptos"/>
              </a:rPr>
              <a:t>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542032"/>
            <a:ext cx="6135624" cy="16459"/>
          </a:xfrm>
          <a:prstGeom prst="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60904"/>
            <a:ext cx="6135624" cy="3154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5F8FC"/>
                </a:solidFill>
                <a:latin typeface="Consolas"/>
              </a:defRPr>
            </a:pPr>
            <a:r>
              <a:t>score = 85</a:t>
            </a:r>
          </a:p>
          <a:p>
            <a:pPr>
              <a:spcAft>
                <a:spcPts val="300"/>
              </a:spcAft>
              <a:defRPr sz="1400">
                <a:solidFill>
                  <a:srgbClr val="F5F8FC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5F8FC"/>
                </a:solidFill>
                <a:latin typeface="Consolas"/>
              </a:defRPr>
            </a:pPr>
            <a:r>
              <a:t>if score &gt;= 90:</a:t>
            </a:r>
          </a:p>
          <a:p>
            <a:pPr>
              <a:spcAft>
                <a:spcPts val="300"/>
              </a:spcAft>
              <a:defRPr sz="1400">
                <a:solidFill>
                  <a:srgbClr val="F5F8FC"/>
                </a:solidFill>
                <a:latin typeface="Consolas"/>
              </a:defRPr>
            </a:pPr>
            <a:r>
              <a:t>    grade = "A"</a:t>
            </a:r>
          </a:p>
          <a:p>
            <a:pPr>
              <a:spcAft>
                <a:spcPts val="300"/>
              </a:spcAft>
              <a:defRPr sz="1400">
                <a:solidFill>
                  <a:srgbClr val="F5F8FC"/>
                </a:solidFill>
                <a:latin typeface="Consolas"/>
              </a:defRPr>
            </a:pPr>
            <a:r>
              <a:t>elif score &gt;= 80:</a:t>
            </a:r>
          </a:p>
          <a:p>
            <a:pPr>
              <a:spcAft>
                <a:spcPts val="300"/>
              </a:spcAft>
              <a:defRPr sz="1400">
                <a:solidFill>
                  <a:srgbClr val="F5F8FC"/>
                </a:solidFill>
                <a:latin typeface="Consolas"/>
              </a:defRPr>
            </a:pPr>
            <a:r>
              <a:t>    grade = "B"</a:t>
            </a:r>
          </a:p>
          <a:p>
            <a:pPr>
              <a:spcAft>
                <a:spcPts val="300"/>
              </a:spcAft>
              <a:defRPr sz="1400">
                <a:solidFill>
                  <a:srgbClr val="F5F8FC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300"/>
              </a:spcAft>
              <a:defRPr sz="1400">
                <a:solidFill>
                  <a:srgbClr val="F5F8FC"/>
                </a:solidFill>
                <a:latin typeface="Consolas"/>
              </a:defRPr>
            </a:pPr>
            <a:r>
              <a:t>    grade = "C or below"</a:t>
            </a:r>
          </a:p>
          <a:p>
            <a:pPr>
              <a:spcAft>
                <a:spcPts val="300"/>
              </a:spcAft>
              <a:defRPr sz="1400">
                <a:solidFill>
                  <a:srgbClr val="F5F8FC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F5F8FC"/>
                </a:solidFill>
                <a:latin typeface="Consolas"/>
              </a:defRPr>
            </a:pPr>
            <a:r>
              <a:t>print(grade)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5596128"/>
            <a:ext cx="613562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5D29B"/>
                </a:solidFill>
                <a:latin typeface="Aptos"/>
              </a:rPr>
              <a:t>OUTPUT  › 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331720"/>
            <a:ext cx="3566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CC4A"/>
                </a:solidFill>
                <a:latin typeface="Aptos"/>
              </a:rPr>
              <a:t>Conditions are checked top to bottom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834640"/>
            <a:ext cx="3657600" cy="2468880"/>
          </a:xfrm>
          <a:prstGeom prst="rect">
            <a:avLst/>
          </a:prstGeom>
          <a:noFill/>
        </p:spPr>
        <p:txBody>
          <a:bodyPr wrap="none" lIns="109728" rIns="109728" tIns="91440" bIns="9144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55D29B"/>
                </a:solidFill>
                <a:latin typeface="Aptos"/>
              </a:defRPr>
            </a:pPr>
            <a:r>
              <a:t>90 or more → A</a:t>
            </a:r>
          </a:p>
          <a:p>
            <a:pPr>
              <a:spcAft>
                <a:spcPts val="800"/>
              </a:spcAft>
              <a:defRPr sz="1700" b="1">
                <a:solidFill>
                  <a:srgbClr val="409CFF"/>
                </a:solidFill>
                <a:latin typeface="Aptos"/>
              </a:defRPr>
            </a:pPr>
            <a:r>
              <a:t>80–89 → B</a:t>
            </a:r>
          </a:p>
          <a:p>
            <a:pPr>
              <a:spcAft>
                <a:spcPts val="800"/>
              </a:spcAft>
              <a:defRPr sz="1700" b="1">
                <a:solidFill>
                  <a:srgbClr val="AE82FF"/>
                </a:solidFill>
                <a:latin typeface="Aptos"/>
              </a:defRPr>
            </a:pPr>
            <a:r>
              <a:t>Below 80 → C or below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5349240"/>
            <a:ext cx="3474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B0BED0"/>
                </a:solidFill>
                <a:latin typeface="Aptos"/>
              </a:rPr>
              <a:t>Tip: Use elif for another condition.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9CFF"/>
                </a:solidFill>
                <a:latin typeface="Aptos"/>
              </a:rPr>
              <a:t>GROUP 7  / 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0BED0"/>
                </a:solidFill>
                <a:latin typeface="Aptos"/>
              </a:rPr>
              <a:t>06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F8FC"/>
                </a:solidFill>
                <a:latin typeface="Aptos"/>
              </a:rPr>
              <a:t>Practical Example: Student Grades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10972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0BED0"/>
                </a:solidFill>
                <a:latin typeface="Aptos"/>
              </a:rPr>
              <a:t>A simple grading scale turns a score into a clear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10512"/>
            <a:ext cx="658368" cy="50292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2057400" cy="2240280"/>
          </a:xfrm>
          <a:prstGeom prst="roundRect">
            <a:avLst/>
          </a:prstGeom>
          <a:solidFill>
            <a:srgbClr val="1B2B40"/>
          </a:solidFill>
          <a:ln>
            <a:solidFill>
              <a:srgbClr val="40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09CFF"/>
                </a:solidFill>
                <a:latin typeface="Aptos"/>
              </a:rPr>
              <a:t>STUDENT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6916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5F8FC"/>
                </a:solidFill>
                <a:latin typeface="Aptos"/>
              </a:rPr>
              <a:t>85 /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Aptos"/>
              </a:rPr>
              <a:t>Input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71800" y="2880360"/>
            <a:ext cx="1051560" cy="685800"/>
          </a:xfrm>
          <a:prstGeom prst="rightArrow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2240280"/>
            <a:ext cx="3063240" cy="2240280"/>
          </a:xfrm>
          <a:prstGeom prst="roundRect">
            <a:avLst/>
          </a:prstGeom>
          <a:solidFill>
            <a:srgbClr val="1B2B40"/>
          </a:solidFill>
          <a:ln>
            <a:solidFill>
              <a:srgbClr val="A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560320"/>
            <a:ext cx="2606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AE82FF"/>
                </a:solidFill>
                <a:latin typeface="Aptos"/>
              </a:rPr>
              <a:t>DECISION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25146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5F8FC"/>
                </a:solidFill>
                <a:latin typeface="Aptos"/>
              </a:rPr>
              <a:t>85 &gt;= 80
True → Grade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86200"/>
            <a:ext cx="2514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B0BED0"/>
                </a:solidFill>
                <a:latin typeface="Aptos"/>
              </a:rPr>
              <a:t>if / elif / else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43800" y="2880360"/>
            <a:ext cx="1051560" cy="685800"/>
          </a:xfrm>
          <a:prstGeom prst="rightArrow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2240280"/>
            <a:ext cx="2514600" cy="2240280"/>
          </a:xfrm>
          <a:prstGeom prst="roundRect">
            <a:avLst/>
          </a:prstGeom>
          <a:solidFill>
            <a:srgbClr val="1B2B40"/>
          </a:solidFill>
          <a:ln>
            <a:solidFill>
              <a:srgbClr val="55D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560320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5D29B"/>
                </a:solidFill>
                <a:latin typeface="Aptos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063240"/>
            <a:ext cx="20574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Grade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94760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5D29B"/>
                </a:solidFill>
                <a:latin typeface="Aptos"/>
              </a:rPr>
              <a:t>Very Good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B0BED0"/>
                </a:solidFill>
                <a:latin typeface="Aptos"/>
              </a:rPr>
              <a:t>The same idea can classify students as Pass or Fail and assign letter grades.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9CFF"/>
                </a:solidFill>
                <a:latin typeface="Aptos"/>
              </a:rPr>
              <a:t>GROUP 7  / 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0BED0"/>
                </a:solidFill>
                <a:latin typeface="Aptos"/>
              </a:rPr>
              <a:t>07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F8FC"/>
                </a:solidFill>
                <a:latin typeface="Aptos"/>
              </a:rPr>
              <a:t>Live Demo: Complete Grading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10972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0BED0"/>
                </a:solidFill>
                <a:latin typeface="Aptos"/>
              </a:rPr>
              <a:t>Run this program in VS Code and test different scores.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10512"/>
            <a:ext cx="658368" cy="50292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6766560" cy="4343400"/>
          </a:xfrm>
          <a:prstGeom prst="roundRect">
            <a:avLst/>
          </a:prstGeom>
          <a:solidFill>
            <a:srgbClr val="1B2B40"/>
          </a:solidFill>
          <a:ln>
            <a:solidFill>
              <a:srgbClr val="22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39696"/>
            <a:ext cx="63642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9CFF"/>
                </a:solidFill>
                <a:latin typeface="Aptos"/>
              </a:rPr>
              <a:t>PYTHON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2496312"/>
            <a:ext cx="6364224" cy="16459"/>
          </a:xfrm>
          <a:prstGeom prst="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615184"/>
            <a:ext cx="6364224" cy="3630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score = int(input("Enter score: "))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if score &lt; 0 or score &gt; 100: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    print("Invalid score")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elif score &gt;= 90: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    print("Grade A")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elif score &gt;= 80: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    print("Grade B")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elif score &gt;= 70: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    print("Grade C")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elif score &gt;= 50: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    print("Pass")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300"/>
              </a:spcAft>
              <a:defRPr sz="1300">
                <a:solidFill>
                  <a:srgbClr val="F5F8FC"/>
                </a:solidFill>
                <a:latin typeface="Consolas"/>
              </a:defRPr>
            </a:pPr>
            <a:r>
              <a:t>    print("Fail")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331720"/>
            <a:ext cx="3291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CC4A"/>
                </a:solidFill>
                <a:latin typeface="Aptos"/>
              </a:rPr>
              <a:t>Try these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880360"/>
            <a:ext cx="914400" cy="384048"/>
          </a:xfrm>
          <a:prstGeom prst="round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5" y="2926079"/>
            <a:ext cx="841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5D29B"/>
                </a:solidFill>
                <a:latin typeface="Aptos"/>
              </a:rPr>
              <a:t>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944368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→ Grade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538728"/>
            <a:ext cx="914400" cy="384048"/>
          </a:xfrm>
          <a:prstGeom prst="round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1855" y="3584448"/>
            <a:ext cx="841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09CFF"/>
                </a:solidFill>
                <a:latin typeface="Aptos"/>
              </a:rPr>
              <a:t>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602736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→ Grade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4197096"/>
            <a:ext cx="914400" cy="384048"/>
          </a:xfrm>
          <a:prstGeom prst="round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1855" y="4242816"/>
            <a:ext cx="841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AE82FF"/>
                </a:solidFill>
                <a:latin typeface="Aptos"/>
              </a:rPr>
              <a:t>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261104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→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4855464"/>
            <a:ext cx="914400" cy="384048"/>
          </a:xfrm>
          <a:prstGeom prst="roundRect">
            <a:avLst/>
          </a:prstGeom>
          <a:solidFill>
            <a:srgbClr val="22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1855" y="4901184"/>
            <a:ext cx="841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6870"/>
                </a:solidFill>
                <a:latin typeface="Aptos"/>
              </a:rPr>
              <a:t>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919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→ Fail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09CFF"/>
                </a:solidFill>
                <a:latin typeface="Aptos"/>
              </a:rPr>
              <a:t>GROUP 7  / 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320040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0BED0"/>
                </a:solidFill>
                <a:latin typeface="Aptos"/>
              </a:rPr>
              <a:t>08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F8FC"/>
                </a:solidFill>
                <a:latin typeface="Aptos"/>
              </a:rPr>
              <a:t>Quick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07592"/>
            <a:ext cx="10972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0BED0"/>
                </a:solidFill>
                <a:latin typeface="Aptos"/>
              </a:rPr>
              <a:t>Choose the statement that matches the number of possible paths.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10512"/>
            <a:ext cx="658368" cy="50292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3063240" cy="2423160"/>
          </a:xfrm>
          <a:prstGeom prst="roundRect">
            <a:avLst/>
          </a:prstGeom>
          <a:solidFill>
            <a:srgbClr val="1B2B40"/>
          </a:solidFill>
          <a:ln>
            <a:solidFill>
              <a:srgbClr val="40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24912"/>
            <a:ext cx="2651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409CFF"/>
                </a:solidFill>
                <a:latin typeface="Aptos"/>
              </a:rPr>
              <a:t>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83280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One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86200"/>
            <a:ext cx="26060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Aptos"/>
              </a:rPr>
              <a:t>Run code only when
condition is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423160"/>
            <a:ext cx="3063240" cy="2423160"/>
          </a:xfrm>
          <a:prstGeom prst="roundRect">
            <a:avLst/>
          </a:prstGeom>
          <a:solidFill>
            <a:srgbClr val="1B2B40"/>
          </a:solidFill>
          <a:ln>
            <a:solidFill>
              <a:srgbClr val="FFC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724912"/>
            <a:ext cx="2651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CC4A"/>
                </a:solidFill>
                <a:latin typeface="Aptos"/>
              </a:rPr>
              <a:t>if-else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3383280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Two paths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886200"/>
            <a:ext cx="26060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Aptos"/>
              </a:rPr>
              <a:t>Choose between one
result or another.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423160"/>
            <a:ext cx="3063240" cy="2423160"/>
          </a:xfrm>
          <a:prstGeom prst="roundRect">
            <a:avLst/>
          </a:prstGeom>
          <a:solidFill>
            <a:srgbClr val="1B2B40"/>
          </a:solidFill>
          <a:ln>
            <a:solidFill>
              <a:srgbClr val="A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724912"/>
            <a:ext cx="2651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AE82FF"/>
                </a:solidFill>
                <a:latin typeface="Aptos"/>
              </a:rPr>
              <a:t>if-elif-else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383280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Many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86200"/>
            <a:ext cx="26060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B0BED0"/>
                </a:solidFill>
                <a:latin typeface="Aptos"/>
              </a:rPr>
              <a:t>Check conditions in order;
else is the fallback.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Decision-making statements make programs interactive and help them respond to different situations.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1005840"/>
            <a:ext cx="228600" cy="228600"/>
          </a:xfrm>
          <a:prstGeom prst="ellipse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554480"/>
            <a:ext cx="228600" cy="228600"/>
          </a:xfrm>
          <a:prstGeom prst="ellipse">
            <a:avLst/>
          </a:prstGeom>
          <a:solidFill>
            <a:srgbClr val="FFC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468880"/>
            <a:ext cx="228600" cy="228600"/>
          </a:xfrm>
          <a:prstGeom prst="ellipse">
            <a:avLst/>
          </a:prstGeom>
          <a:solidFill>
            <a:srgbClr val="A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0"/>
            <a:ext cx="228600" cy="228600"/>
          </a:xfrm>
          <a:prstGeom prst="ellipse">
            <a:avLst/>
          </a:prstGeom>
          <a:solidFill>
            <a:srgbClr val="55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4023360"/>
            <a:ext cx="228600" cy="228600"/>
          </a:xfrm>
          <a:prstGeom prst="ellipse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22960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09CFF"/>
                </a:solidFill>
                <a:latin typeface="Aptos"/>
              </a:rPr>
              <a:t>GROUP 7  • 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77724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5F8FC"/>
                </a:solidFill>
                <a:latin typeface="Aptos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6400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CC4A"/>
                </a:solidFill>
                <a:latin typeface="Aptos"/>
              </a:rPr>
              <a:t>Any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0BED0"/>
                </a:solidFill>
                <a:latin typeface="Aptos"/>
              </a:rPr>
              <a:t>if  •  if-else  •  if-elif-else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